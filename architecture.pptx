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TASE TA-35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A6"/>
                </a:solidFill>
                <a:latin typeface="Segoe UI"/>
              </a:rPr>
              <a:t>Real-Time Options Pipeline &amp; Iron Condor Strategy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377440" cy="2103120"/>
          </a:xfrm>
          <a:prstGeom prst="roundRect">
            <a:avLst/>
          </a:prstGeom>
          <a:solidFill>
            <a:srgbClr val="15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73152" cy="2103120"/>
          </a:xfrm>
          <a:prstGeom prst="rect">
            <a:avLst/>
          </a:prstGeom>
          <a:solidFill>
            <a:srgbClr val="18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FFFF"/>
                </a:solidFill>
                <a:latin typeface="Segoe UI"/>
              </a:rPr>
              <a:t>🌐  TASE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6"/>
                </a:solidFill>
                <a:latin typeface="Segoe UI"/>
              </a:rPr>
              <a:t>api.tase.co.il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2103120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Put/Call data (POST)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Expiry dates filter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Paginated responses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Imperva WAF bypass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88720"/>
            <a:ext cx="3291840" cy="2194560"/>
          </a:xfrm>
          <a:prstGeom prst="roundRect">
            <a:avLst/>
          </a:prstGeom>
          <a:solidFill>
            <a:srgbClr val="15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73152" cy="21945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98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Segoe UI"/>
              </a:rPr>
              <a:t>⚙️  main.py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910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6"/>
                </a:solidFill>
                <a:latin typeface="Segoe UI"/>
              </a:rPr>
              <a:t>Pipeline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47088"/>
            <a:ext cx="301752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15-min loop (09:30–17:30)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Playwright + Chromium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Exponential backoff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Restart-safe state markers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Live index injection (Yahoo)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188720"/>
            <a:ext cx="3291840" cy="2194560"/>
          </a:xfrm>
          <a:prstGeom prst="roundRect">
            <a:avLst/>
          </a:prstGeom>
          <a:solidFill>
            <a:srgbClr val="15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188720"/>
            <a:ext cx="73152" cy="2194560"/>
          </a:xfrm>
          <a:prstGeom prst="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298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AB00"/>
                </a:solidFill>
                <a:latin typeface="Segoe UI"/>
              </a:rPr>
              <a:t>📊  strategy_engine.py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5910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6"/>
                </a:solidFill>
                <a:latin typeface="Segoe UI"/>
              </a:rPr>
              <a:t>Iron Condor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47088"/>
            <a:ext cx="301752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8 intervals (0.5%–4%)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1st-trading-day trigger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Settlement at 10:00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3-layer price defense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703320"/>
            <a:ext cx="3291840" cy="1783080"/>
          </a:xfrm>
          <a:prstGeom prst="roundRect">
            <a:avLst/>
          </a:prstGeom>
          <a:solidFill>
            <a:srgbClr val="15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703320"/>
            <a:ext cx="73152" cy="1783080"/>
          </a:xfrm>
          <a:prstGeom prst="rect">
            <a:avLst/>
          </a:prstGeom>
          <a:solidFill>
            <a:srgbClr val="00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8130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B0FF"/>
                </a:solidFill>
                <a:latin typeface="Segoe UI"/>
              </a:rPr>
              <a:t>💾  database.py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056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6"/>
                </a:solidFill>
                <a:latin typeface="Segoe UI"/>
              </a:rP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361688"/>
            <a:ext cx="30175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Batch upsert (50/batch)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History archival (EOD)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Weekly CSV backup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pipeline_state markers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1188720"/>
            <a:ext cx="3246120" cy="2606040"/>
          </a:xfrm>
          <a:prstGeom prst="roundRect">
            <a:avLst/>
          </a:prstGeom>
          <a:solidFill>
            <a:srgbClr val="15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1188720"/>
            <a:ext cx="73152" cy="2606040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0" y="12984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1744"/>
                </a:solidFill>
                <a:latin typeface="Segoe UI"/>
              </a:rPr>
              <a:t>📨  telegram_bot.py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1591056"/>
            <a:ext cx="2971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6"/>
                </a:solidFill>
                <a:latin typeface="Segoe UI"/>
              </a:rPr>
              <a:t>Notifications (retry+backoff)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1847088"/>
            <a:ext cx="29718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🚨 Crash alert (1×/streak)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🚀 Strategy launch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🏁 Settlement reports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📋 Daily summary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📊 Weekly summary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0" y="4114800"/>
            <a:ext cx="3246120" cy="2377440"/>
          </a:xfrm>
          <a:prstGeom prst="roundRect">
            <a:avLst/>
          </a:prstGeom>
          <a:solidFill>
            <a:srgbClr val="15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0" y="4114800"/>
            <a:ext cx="73152" cy="237744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422452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BFA5"/>
                </a:solidFill>
                <a:latin typeface="Segoe UI"/>
              </a:rPr>
              <a:t>📱  dashboard.py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4517136"/>
            <a:ext cx="2971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6"/>
                </a:solidFill>
                <a:latin typeface="Segoe UI"/>
              </a:rPr>
              <a:t>Streamlit + Plotly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4773168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Live monitor + freshness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Range-risk bars (Plotly)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P&amp;L analytics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• Paper-trading desk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5715000"/>
            <a:ext cx="6995160" cy="2057400"/>
          </a:xfrm>
          <a:prstGeom prst="roundRect">
            <a:avLst/>
          </a:prstGeom>
          <a:solidFill>
            <a:srgbClr val="12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5715000"/>
            <a:ext cx="73152" cy="205740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7288" y="5824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B86FC"/>
                </a:solidFill>
                <a:latin typeface="Segoe UI"/>
              </a:rPr>
              <a:t>🗄️  Supabase (PostgreSQL) — 6 tables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8" y="6190488"/>
            <a:ext cx="2157984" cy="713232"/>
          </a:xfrm>
          <a:prstGeom prst="roundRect">
            <a:avLst/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8728" y="6254496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tase_putcall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8728" y="6473951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AA0A6"/>
                </a:solidFill>
                <a:latin typeface="Segoe UI"/>
              </a:rPr>
              <a:t>Live snapshot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8728" y="6665975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🟢 Real-time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96712" y="6190488"/>
            <a:ext cx="2157984" cy="713232"/>
          </a:xfrm>
          <a:prstGeom prst="roundRect">
            <a:avLst/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8152" y="6254496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tase_putcall_history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6473951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AA0A6"/>
                </a:solidFill>
                <a:latin typeface="Segoe UI"/>
              </a:rPr>
              <a:t>Archive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88152" y="6665975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📁 EOD snapshots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46136" y="6190488"/>
            <a:ext cx="2157984" cy="713232"/>
          </a:xfrm>
          <a:prstGeom prst="roundRect">
            <a:avLst/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7575" y="6254496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iron_condor_strategies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37575" y="6473951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AA0A6"/>
                </a:solidFill>
                <a:latin typeface="Segoe UI"/>
              </a:rPr>
              <a:t>Strategy 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5" y="6665975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📊 8 intervals/wk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47288" y="7013448"/>
            <a:ext cx="2157984" cy="713232"/>
          </a:xfrm>
          <a:prstGeom prst="roundRect">
            <a:avLst/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38728" y="7077456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pipeline_state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8728" y="7296912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AA0A6"/>
                </a:solidFill>
                <a:latin typeface="Segoe UI"/>
              </a:rPr>
              <a:t>Run markers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38728" y="7488936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🔒 Restart-safe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96712" y="7013448"/>
            <a:ext cx="2157984" cy="713232"/>
          </a:xfrm>
          <a:prstGeom prst="roundRect">
            <a:avLst/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88152" y="7077456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demo_balance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88152" y="7296912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AA0A6"/>
                </a:solidFill>
                <a:latin typeface="Segoe UI"/>
              </a:rPr>
              <a:t>Paper account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88152" y="7488936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💵 Balance ledger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46136" y="7013448"/>
            <a:ext cx="2157984" cy="713232"/>
          </a:xfrm>
          <a:prstGeom prst="roundRect">
            <a:avLst/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7575" y="7077456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demo_trades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37575" y="7296912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AA0A6"/>
                </a:solidFill>
                <a:latin typeface="Segoe UI"/>
              </a:rPr>
              <a:t>Paper positions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37575" y="7488936"/>
            <a:ext cx="19933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🧪 Open / closed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43200" y="2240280"/>
            <a:ext cx="548640" cy="457200"/>
          </a:xfrm>
          <a:prstGeom prst="bentConnector3">
            <a:avLst/>
          </a:prstGeom>
          <a:ln w="15875">
            <a:solidFill>
              <a:srgbClr val="18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240280" y="1993392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8FFFF"/>
                </a:solidFill>
                <a:latin typeface="Segoe UI"/>
              </a:rPr>
              <a:t>Playwright fetch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583680" y="1874519"/>
            <a:ext cx="365760" cy="0"/>
          </a:xfrm>
          <a:prstGeom prst="bentConnector3">
            <a:avLst/>
          </a:prstGeom>
          <a:ln w="15875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492240" y="162763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0E676"/>
                </a:solidFill>
                <a:latin typeface="Segoe UI"/>
              </a:rPr>
              <a:t>triggers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937760" y="3383280"/>
            <a:ext cx="0" cy="320040"/>
          </a:xfrm>
          <a:prstGeom prst="bentConnector3">
            <a:avLst/>
          </a:prstGeom>
          <a:ln w="15875">
            <a:solidFill>
              <a:srgbClr val="00B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29200" y="33101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0B0FF"/>
                </a:solidFill>
                <a:latin typeface="Segoe UI"/>
              </a:rPr>
              <a:t>upsert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937760" y="5486400"/>
            <a:ext cx="0" cy="228600"/>
          </a:xfrm>
          <a:prstGeom prst="bentConnector3">
            <a:avLst/>
          </a:prstGeom>
          <a:ln w="15875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029200" y="5285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BB86FC"/>
                </a:solidFill>
                <a:latin typeface="Segoe UI"/>
              </a:rPr>
              <a:t>REST API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595360" y="3383280"/>
            <a:ext cx="0" cy="2331720"/>
          </a:xfrm>
          <a:prstGeom prst="bentConnector3">
            <a:avLst/>
          </a:prstGeom>
          <a:ln w="15875">
            <a:solidFill>
              <a:srgbClr val="FF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0" y="443484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AB00"/>
                </a:solidFill>
                <a:latin typeface="Segoe UI"/>
              </a:rPr>
              <a:t>read / write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241280" y="2011680"/>
            <a:ext cx="731520" cy="0"/>
          </a:xfrm>
          <a:prstGeom prst="bentConnector3">
            <a:avLst/>
          </a:prstGeom>
          <a:ln w="15875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0104120" y="173736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1744"/>
                </a:solidFill>
                <a:latin typeface="Segoe UI"/>
              </a:rPr>
              <a:t>alerts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10241280" y="5212079"/>
            <a:ext cx="731520" cy="1280161"/>
          </a:xfrm>
          <a:prstGeom prst="bentConnector3">
            <a:avLst/>
          </a:prstGeom>
          <a:ln w="15875">
            <a:solidFill>
              <a:srgbClr val="00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195560" y="6126480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0BFA5"/>
                </a:solidFill>
                <a:latin typeface="Segoe UI"/>
              </a:rPr>
              <a:t>read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5715000"/>
            <a:ext cx="2697480" cy="2057400"/>
          </a:xfrm>
          <a:prstGeom prst="round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8521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☁️ Deployment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245352"/>
            <a:ext cx="23774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Render BG Worker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Segoe UI"/>
              </a:rPr>
              <a:t>Docker • main.py loop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Render Web Service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Segoe UI"/>
              </a:rPr>
              <a:t>Streamlit • dashboard.py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Supabase Cloud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Segoe UI"/>
              </a:rPr>
              <a:t>PostgreSQL + Storage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972800" y="6675120"/>
            <a:ext cx="3246120" cy="1188720"/>
          </a:xfrm>
          <a:prstGeom prst="round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155680" y="6839712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~4,270 lines of code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0" y="7278624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0A6"/>
                </a:solidFill>
                <a:latin typeface="Segoe UI"/>
              </a:rPr>
              <a:t>Python • 6 modules • 6 tables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